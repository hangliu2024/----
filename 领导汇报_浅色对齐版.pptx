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E6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EE6"/>
                </a:solidFill>
              </a:rPr>
              <a:t>ENTERPRISE ASSET &amp; SECURITY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C3C50"/>
                </a:solidFill>
              </a:rPr>
              <a:t>企业资产与信息安全综合管理平台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AAD2"/>
                </a:solidFill>
              </a:rPr>
              <a:t>B/S三层架构 | Flask + MySQL + Ollama AI | v1.3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83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CAAD2"/>
                </a:solidFill>
              </a:rPr>
              <a:t>2026年5月8日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365D"/>
                </a:solidFill>
              </a:rPr>
              <a:t>核心成果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07592"/>
            <a:ext cx="3749039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441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50"/>
                </a:solidFill>
              </a:rPr>
              <a:t>数据集中化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C3C50"/>
                </a:solidFill>
              </a:rPr>
              <a:t>93,000+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37943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D2F0"/>
                </a:solidFill>
              </a:rPr>
              <a:t>员工档案统一管理，消除信息孤岛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307592"/>
            <a:ext cx="3749039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3441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50"/>
                </a:solidFill>
              </a:rPr>
              <a:t>权限精细化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C3C50"/>
                </a:solidFill>
              </a:rPr>
              <a:t>7级 RBAC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837943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D2F0"/>
                </a:solidFill>
              </a:rPr>
              <a:t>最小粒度到人-系统-操作，部门数据隔离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307592"/>
            <a:ext cx="3749039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3441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50"/>
                </a:solidFill>
              </a:rPr>
              <a:t>AI智能化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C3C50"/>
                </a:solidFill>
              </a:rPr>
              <a:t>自然语言查数据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837943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D2F0"/>
                </a:solidFill>
              </a:rPr>
              <a:t>非技术人员自主查询，秒级响应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67128"/>
            <a:ext cx="11247120" cy="256032"/>
          </a:xfrm>
          <a:prstGeom prst="rect">
            <a:avLst/>
          </a:prstGeom>
          <a:solidFill>
            <a:srgbClr val="EBF2FF"/>
          </a:solidFill>
          <a:ln w="6350">
            <a:solidFill>
              <a:srgbClr val="00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1945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52AA"/>
                </a:solidFill>
              </a:rPr>
              <a:t>已上线运行 | 6大核心模块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96312"/>
            <a:ext cx="1828800" cy="548640"/>
          </a:xfrm>
          <a:prstGeom prst="rect">
            <a:avLst/>
          </a:prstGeom>
          <a:solidFill>
            <a:srgbClr val="0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5328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50"/>
                </a:solidFill>
              </a:rPr>
              <a:t>人员管理系统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7889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9.3万员工档案 · 80+字段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50008" y="2496312"/>
            <a:ext cx="1828800" cy="548640"/>
          </a:xfrm>
          <a:prstGeom prst="rect">
            <a:avLst/>
          </a:prstGeom>
          <a:solidFill>
            <a:srgbClr val="0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7168" y="25328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50"/>
                </a:solidFill>
              </a:rPr>
              <a:t>IT资产管理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7168" y="27889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1000+办公电脑 · 500+工控机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42816" y="2496312"/>
            <a:ext cx="1828800" cy="548640"/>
          </a:xfrm>
          <a:prstGeom prst="rect">
            <a:avLst/>
          </a:prstGeom>
          <a:solidFill>
            <a:srgbClr val="0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9976" y="25328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50"/>
                </a:solidFill>
              </a:rPr>
              <a:t>安全管控平台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9976" y="27889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涉密人/物/区域/文件全管控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35623" y="2496312"/>
            <a:ext cx="1828800" cy="548640"/>
          </a:xfrm>
          <a:prstGeom prst="rect">
            <a:avLst/>
          </a:prstGeom>
          <a:solidFill>
            <a:srgbClr val="0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2783" y="25328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50"/>
                </a:solidFill>
              </a:rPr>
              <a:t>AI智能问答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2783" y="27889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意图识别 · SQL生成 · 自然语言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28431" y="2496312"/>
            <a:ext cx="1828800" cy="548640"/>
          </a:xfrm>
          <a:prstGeom prst="rect">
            <a:avLst/>
          </a:prstGeom>
          <a:solidFill>
            <a:srgbClr val="0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2" y="25328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50"/>
                </a:solidFill>
              </a:rPr>
              <a:t>权限安全加固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2" y="27889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CSRF · XSS · 密码策略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21240" y="2496312"/>
            <a:ext cx="1828800" cy="548640"/>
          </a:xfrm>
          <a:prstGeom prst="rect">
            <a:avLst/>
          </a:prstGeom>
          <a:solidFill>
            <a:srgbClr val="0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0" y="25328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50"/>
                </a:solidFill>
              </a:rPr>
              <a:t>界面统一优化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27889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小米设计风格一致体验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154680"/>
            <a:ext cx="11247120" cy="256032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318211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50"/>
                </a:solidFill>
              </a:rPr>
              <a:t>收尾中 | 安全测试 + 全面回归测试 + 性能优化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483864"/>
            <a:ext cx="214884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3483864"/>
            <a:ext cx="1933956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80" y="35204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90%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35204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50"/>
                </a:solidFill>
              </a:rPr>
              <a:t>日志审计收尾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3721608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82A0"/>
                </a:solidFill>
              </a:rPr>
              <a:t>操作留痕，合规审计追溯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97480" y="3483864"/>
            <a:ext cx="214884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97480" y="3483864"/>
            <a:ext cx="1933956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51960" y="35204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90%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35204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50"/>
                </a:solidFill>
              </a:rPr>
              <a:t>安全测试收尾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4640" y="3721608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82A0"/>
                </a:solidFill>
              </a:rPr>
              <a:t>代码审计 · 渗透测试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37760" y="3483864"/>
            <a:ext cx="214884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37760" y="3483864"/>
            <a:ext cx="161163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35204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75%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74920" y="35204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50"/>
                </a:solidFill>
              </a:rPr>
              <a:t>全面回归测试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74920" y="3721608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82A0"/>
                </a:solidFill>
              </a:rPr>
              <a:t>功能 · 性能 · 安全验证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78040" y="3483864"/>
            <a:ext cx="214884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78040" y="3483864"/>
            <a:ext cx="1289304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32520" y="35204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60%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35204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50"/>
                </a:solidFill>
              </a:rPr>
              <a:t>数据库优化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3721608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82A0"/>
                </a:solidFill>
              </a:rPr>
              <a:t>索引 · 字段长度 · 导入效率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18320" y="3483864"/>
            <a:ext cx="214884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18320" y="3483864"/>
            <a:ext cx="107442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0" y="35204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50%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55480" y="35204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50"/>
                </a:solidFill>
              </a:rPr>
              <a:t>文档完善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55480" y="3721608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882A0"/>
                </a:solidFill>
              </a:rPr>
              <a:t>用户手册 · 部署文档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4069080"/>
            <a:ext cx="11247120" cy="256032"/>
          </a:xfrm>
          <a:prstGeom prst="rect">
            <a:avLst/>
          </a:prstGeom>
          <a:solidFill>
            <a:srgbClr val="EBF2FF"/>
          </a:solidFill>
          <a:ln w="6350">
            <a:solidFill>
              <a:srgbClr val="00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40965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52AA"/>
                </a:solidFill>
              </a:rPr>
              <a:t>里程碑 | 上线倒计时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4398264"/>
            <a:ext cx="260604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7240" y="44165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C3C50"/>
                </a:solidFill>
              </a:rPr>
              <a:t>5/14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7240" y="4672584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CE6FF"/>
                </a:solidFill>
              </a:rPr>
              <a:t>安全收尾完成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29000" y="4398264"/>
            <a:ext cx="260604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566160" y="44165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C3C50"/>
                </a:solidFill>
              </a:rPr>
              <a:t>5/21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66160" y="4672584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CE6FF"/>
                </a:solidFill>
              </a:rPr>
              <a:t>全面测试完成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17920" y="4398264"/>
            <a:ext cx="260604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55080" y="44165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C3C50"/>
                </a:solidFill>
              </a:rPr>
              <a:t>5/28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55080" y="4672584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CE6FF"/>
                </a:solidFill>
              </a:rPr>
              <a:t>优化文档完成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06840" y="4398264"/>
            <a:ext cx="2606040" cy="457200"/>
          </a:xfrm>
          <a:prstGeom prst="rect">
            <a:avLst/>
          </a:prstGeom>
          <a:solidFill>
            <a:srgbClr val="E6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44000" y="44165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C3C50"/>
                </a:solidFill>
              </a:rPr>
              <a:t>6/7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0" y="4672584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CE6FF"/>
                </a:solidFill>
              </a:rPr>
              <a:t>正式上线运行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337560" y="4599432"/>
            <a:ext cx="182880" cy="36576"/>
          </a:xfrm>
          <a:prstGeom prst="rect">
            <a:avLst/>
          </a:prstGeom>
          <a:solidFill>
            <a:srgbClr val="DC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91840" y="4526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DCEB"/>
                </a:solidFill>
              </a:rPr>
              <a:t>&gt;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6480" y="4599432"/>
            <a:ext cx="182880" cy="36576"/>
          </a:xfrm>
          <a:prstGeom prst="rect">
            <a:avLst/>
          </a:prstGeom>
          <a:solidFill>
            <a:srgbClr val="DC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80760" y="4526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DCEB"/>
                </a:solidFill>
              </a:rPr>
              <a:t>&gt;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15400" y="4599432"/>
            <a:ext cx="182880" cy="36576"/>
          </a:xfrm>
          <a:prstGeom prst="rect">
            <a:avLst/>
          </a:prstGeom>
          <a:solidFill>
            <a:srgbClr val="DC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69680" y="4526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DCEB"/>
                </a:solidFill>
              </a:rPr>
              <a:t>&gt;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5138928"/>
            <a:ext cx="12191695" cy="12344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51937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4C8E6"/>
                </a:solidFill>
              </a:rPr>
              <a:t>系统规模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5468112"/>
            <a:ext cx="1097280" cy="68580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0352" y="5504688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C3C50"/>
                </a:solidFill>
              </a:rPr>
              <a:t>93,000+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5797296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员工档案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9344" y="5468112"/>
            <a:ext cx="1097280" cy="68580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82496" y="5504688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C3C50"/>
                </a:solidFill>
              </a:rPr>
              <a:t>1,000+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82496" y="5797296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办公电脑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61488" y="5468112"/>
            <a:ext cx="1097280" cy="68580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834640" y="5504688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C3C50"/>
                </a:solidFill>
              </a:rPr>
              <a:t>500+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34640" y="5797296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工控机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913632" y="5468112"/>
            <a:ext cx="1097280" cy="68580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986784" y="5504688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C3C50"/>
                </a:solidFill>
              </a:rPr>
              <a:t>200+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86784" y="5797296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部门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65776" y="5468112"/>
            <a:ext cx="1097280" cy="68580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138928" y="5504688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C3C50"/>
                </a:solidFill>
              </a:rPr>
              <a:t>7级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38928" y="5797296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角色权限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217920" y="5468112"/>
            <a:ext cx="1097280" cy="68580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291072" y="5504688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C3C50"/>
                </a:solidFill>
              </a:rPr>
              <a:t>CSRF+XSS+SQL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91072" y="5797296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安全防护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370064" y="5468112"/>
            <a:ext cx="1097280" cy="68580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443216" y="5504688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C3C50"/>
                </a:solidFill>
              </a:rPr>
              <a:t>AI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443216" y="5797296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智能问答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522208" y="5468112"/>
            <a:ext cx="1097280" cy="68580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595360" y="5504688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C3C50"/>
                </a:solidFill>
              </a:rPr>
              <a:t>50+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595360" y="5797296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API接口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674352" y="5468112"/>
            <a:ext cx="1097280" cy="68580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747504" y="5504688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C3C50"/>
                </a:solidFill>
              </a:rPr>
              <a:t>秒级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747504" y="5797296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查询响应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972800" y="5138928"/>
            <a:ext cx="1097280" cy="1234440"/>
          </a:xfrm>
          <a:prstGeom prst="rect">
            <a:avLst/>
          </a:prstGeom>
          <a:solidFill>
            <a:srgbClr val="E6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018520" y="5257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C50"/>
                </a:solidFill>
              </a:rPr>
              <a:t>6/7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018520" y="5577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CB4"/>
                </a:solidFill>
              </a:rPr>
              <a:t>预计上线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7200" y="62910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296B4"/>
                </a:solidFill>
              </a:rPr>
              <a:t>Enterprise Asset Platform v1.3 | 2026-05-08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