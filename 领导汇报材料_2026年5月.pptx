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8952"/>
            <a:ext cx="12191695" cy="64008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EE6"/>
                </a:solidFill>
              </a:rPr>
              <a:t>ENTERPRISE ASSET &amp; SECURITY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260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项目进展汇报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20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CAAD2"/>
                </a:solidFill>
              </a:rPr>
              <a:t>汇报日期：2026年5月8日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486400" cy="29260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241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已完成功能模块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109728" cy="3840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1371600"/>
            <a:ext cx="530352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3898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65D"/>
                </a:solidFill>
              </a:rPr>
              <a:t>人员管理系统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13898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05050"/>
                </a:solidFill>
              </a:rPr>
              <a:t>93,000+ 员工档案，80+ 字段，部门数据隔离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828800"/>
            <a:ext cx="109728" cy="384048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" y="1828800"/>
            <a:ext cx="530352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8470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65D"/>
                </a:solidFill>
              </a:rPr>
              <a:t>IT资产管理系统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18470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05050"/>
                </a:solidFill>
              </a:rPr>
              <a:t>1,000+ 办公电脑 · 500+ 工控机，全生命周期管理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286000"/>
            <a:ext cx="109728" cy="384048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" y="2286000"/>
            <a:ext cx="530352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3042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65D"/>
                </a:solidFill>
              </a:rPr>
              <a:t>安全管控平台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23042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05050"/>
                </a:solidFill>
              </a:rPr>
              <a:t>涉密人/物/区域/文件，RBAC七级权限体系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743200"/>
            <a:ext cx="109728" cy="38404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064" y="2743200"/>
            <a:ext cx="530352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7614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65D"/>
                </a:solidFill>
              </a:rPr>
              <a:t>AI智能问答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27614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05050"/>
                </a:solidFill>
              </a:rPr>
              <a:t>自然语言查数据，秒级响应，无需SQL技能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200400"/>
            <a:ext cx="109728" cy="384048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2064" y="3200400"/>
            <a:ext cx="530352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2186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65D"/>
                </a:solidFill>
              </a:rPr>
              <a:t>权限安全加固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32186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05050"/>
                </a:solidFill>
              </a:rPr>
              <a:t>CSRF防护 · 密码策略统一 · 开放重定向修复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657600"/>
            <a:ext cx="10972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2064" y="3657600"/>
            <a:ext cx="530352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675887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65D"/>
                </a:solidFill>
              </a:rPr>
              <a:t>界面统一优化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3675887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05050"/>
                </a:solidFill>
              </a:rPr>
              <a:t>小米设计风格，所有页面体验一致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005840"/>
            <a:ext cx="5486400" cy="29260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10241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收尾中 / 计划中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1371600"/>
            <a:ext cx="109728" cy="3840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64224" y="1371600"/>
            <a:ext cx="521208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64224" y="1682496"/>
            <a:ext cx="4690872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064240" y="138988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FFC107"/>
                </a:solidFill>
              </a:rPr>
              <a:t>90%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13898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65D"/>
                </a:solidFill>
              </a:rPr>
              <a:t>日志审计收尾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53619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46464"/>
                </a:solidFill>
              </a:rPr>
              <a:t>操作留痕，支持合规审计追溯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1828800"/>
            <a:ext cx="109728" cy="3840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64224" y="1828800"/>
            <a:ext cx="521208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64224" y="2139696"/>
            <a:ext cx="4690872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64240" y="184708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FFC107"/>
                </a:solidFill>
              </a:rPr>
              <a:t>90%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18470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65D"/>
                </a:solidFill>
              </a:rPr>
              <a:t>安全测试收尾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199339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46464"/>
                </a:solidFill>
              </a:rPr>
              <a:t>代码审计+渗透测试，6月前完成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2286000"/>
            <a:ext cx="109728" cy="384048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64224" y="2286000"/>
            <a:ext cx="521208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64224" y="2596896"/>
            <a:ext cx="3127248" cy="54864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064240" y="230428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0070D2"/>
                </a:solidFill>
              </a:rPr>
              <a:t>60%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23042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65D"/>
                </a:solidFill>
              </a:rPr>
              <a:t>全面回归测试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245059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46464"/>
                </a:solidFill>
              </a:rPr>
              <a:t>功能验证、性能测试、安全测试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2743200"/>
            <a:ext cx="109728" cy="384048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64224" y="2743200"/>
            <a:ext cx="521208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64224" y="3054096"/>
            <a:ext cx="3127248" cy="54864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064240" y="276148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0070D2"/>
                </a:solidFill>
              </a:rPr>
              <a:t>60%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46520" y="27614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65D"/>
                </a:solidFill>
              </a:rPr>
              <a:t>数据库优化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46520" y="290779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46464"/>
                </a:solidFill>
              </a:rPr>
              <a:t>索引添加、字段长度放宽、导入效率优化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3200400"/>
            <a:ext cx="109728" cy="384048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364224" y="3200400"/>
            <a:ext cx="521208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064240" y="321868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69696"/>
                </a:solidFill>
              </a:rPr>
              <a:t>规划中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46520" y="32186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65D"/>
                </a:solidFill>
              </a:rPr>
              <a:t>智能报表平台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46520" y="336499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46464"/>
                </a:solidFill>
              </a:rPr>
              <a:t>数据分析驾驶舱，辅助管理决策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17920" y="3657600"/>
            <a:ext cx="109728" cy="384048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64224" y="3657600"/>
            <a:ext cx="521208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64240" y="3675887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69696"/>
                </a:solidFill>
              </a:rPr>
              <a:t>规划中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46520" y="3675887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65D"/>
                </a:solidFill>
              </a:rPr>
              <a:t>移动端APP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46520" y="3822191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46464"/>
                </a:solidFill>
              </a:rPr>
              <a:t>随时随地办公，提升业务响应速度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4251960"/>
            <a:ext cx="11430000" cy="18288"/>
          </a:xfrm>
          <a:prstGeom prst="rect">
            <a:avLst/>
          </a:prstGeom>
          <a:solidFill>
            <a:srgbClr val="DC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65760" y="4370832"/>
            <a:ext cx="2194560" cy="621792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8912" y="44074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5/8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912" y="46817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CB4DC"/>
                </a:solidFill>
              </a:rPr>
              <a:t>安全加固+权限体系完成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651760" y="4370832"/>
            <a:ext cx="2194560" cy="621792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24912" y="44074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5/14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24912" y="46817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CB4DC"/>
                </a:solidFill>
              </a:rPr>
              <a:t>安全收尾+第一轮测试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937760" y="4370832"/>
            <a:ext cx="2194560" cy="621792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10912" y="44074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5/21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10912" y="46817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CB4DC"/>
                </a:solidFill>
              </a:rPr>
              <a:t>全面回归测试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223760" y="4370832"/>
            <a:ext cx="2194560" cy="621792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296912" y="44074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5/28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96912" y="46817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CB4DC"/>
                </a:solidFill>
              </a:rPr>
              <a:t>性能优化+文档完善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509760" y="4370832"/>
            <a:ext cx="2194560" cy="62179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582912" y="44074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6/7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582912" y="46817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CB4DC"/>
                </a:solidFill>
              </a:rPr>
              <a:t>正式上线运行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5760" y="612648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696B4"/>
                </a:solidFill>
              </a:rPr>
              <a:t>Enterprise Asset &amp; Security Management v1.3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8952"/>
            <a:ext cx="12191695" cy="64008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EE6"/>
                </a:solidFill>
              </a:rPr>
              <a:t>ENTERPRISE ASSET &amp; SECURITY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260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系统架构设计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CAAD2"/>
                </a:solidFill>
              </a:rPr>
              <a:t>B/S 三层架构  |  Flask + MySQL + Ollama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10241280" cy="658368"/>
          </a:xfrm>
          <a:prstGeom prst="rect">
            <a:avLst/>
          </a:prstGeom>
          <a:solidFill>
            <a:srgbClr val="DCE8FC"/>
          </a:solidFill>
          <a:ln w="6350">
            <a:solidFill>
              <a:srgbClr val="00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2412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64C8"/>
                </a:solidFill>
              </a:rPr>
              <a:t>表现层 PRESENTATION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10241280" cy="475488"/>
          </a:xfrm>
          <a:prstGeom prst="rect">
            <a:avLst/>
          </a:prstGeom>
          <a:solidFill>
            <a:srgbClr val="FFF8EB"/>
          </a:solidFill>
          <a:ln w="635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5564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6700"/>
                </a:solidFill>
              </a:rPr>
              <a:t>安全网关层 SECURITY GATEWAY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10241280" cy="804672"/>
          </a:xfrm>
          <a:prstGeom prst="rect">
            <a:avLst/>
          </a:prstGeom>
          <a:solidFill>
            <a:srgbClr val="F2F7FC"/>
          </a:solidFill>
          <a:ln w="63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042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50A0"/>
                </a:solidFill>
              </a:rPr>
              <a:t>应用服务层 APPLICATION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63824"/>
            <a:ext cx="10241280" cy="777240"/>
          </a:xfrm>
          <a:prstGeom prst="rect">
            <a:avLst/>
          </a:prstGeom>
          <a:solidFill>
            <a:srgbClr val="F0FAF2"/>
          </a:solidFill>
          <a:ln w="6350">
            <a:solidFill>
              <a:srgbClr val="00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8211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8C50"/>
                </a:solidFill>
              </a:rPr>
              <a:t>数据服务层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115568"/>
            <a:ext cx="1325880" cy="438912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1170432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系统管理员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57400" y="1115568"/>
            <a:ext cx="1325880" cy="438912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0" y="1170432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部门主管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1115568"/>
            <a:ext cx="1325880" cy="438912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39" y="1170432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普通员工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92040" y="1115568"/>
            <a:ext cx="1325880" cy="4389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59" y="1170432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API调用方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865376"/>
            <a:ext cx="1417320" cy="274320"/>
          </a:xfrm>
          <a:prstGeom prst="rect">
            <a:avLst/>
          </a:prstGeom>
          <a:solidFill>
            <a:srgbClr val="FFF8EB"/>
          </a:solidFill>
          <a:ln w="635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1892807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B45000"/>
                </a:solidFill>
              </a:rPr>
              <a:t>CSRF Token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48839" y="1865376"/>
            <a:ext cx="1417320" cy="274320"/>
          </a:xfrm>
          <a:prstGeom prst="rect">
            <a:avLst/>
          </a:prstGeom>
          <a:solidFill>
            <a:srgbClr val="FFF8EB"/>
          </a:solidFill>
          <a:ln w="635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94559" y="1892807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B45000"/>
                </a:solidFill>
              </a:rPr>
              <a:t>API Key认证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599" y="1865376"/>
            <a:ext cx="1417320" cy="274320"/>
          </a:xfrm>
          <a:prstGeom prst="rect">
            <a:avLst/>
          </a:prstGeom>
          <a:solidFill>
            <a:srgbClr val="FFF8EB"/>
          </a:solidFill>
          <a:ln w="635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1892807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B45000"/>
                </a:solidFill>
              </a:rPr>
              <a:t>JWT会话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66359" y="1865376"/>
            <a:ext cx="1417320" cy="274320"/>
          </a:xfrm>
          <a:prstGeom prst="rect">
            <a:avLst/>
          </a:prstGeom>
          <a:solidFill>
            <a:srgbClr val="FFF8EB"/>
          </a:solidFill>
          <a:ln w="635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79" y="1892807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B45000"/>
                </a:solidFill>
              </a:rPr>
              <a:t>限流熔断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19" y="1865376"/>
            <a:ext cx="1417320" cy="274320"/>
          </a:xfrm>
          <a:prstGeom prst="rect">
            <a:avLst/>
          </a:prstGeom>
          <a:solidFill>
            <a:srgbClr val="FFF8EB"/>
          </a:solidFill>
          <a:ln w="635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39" y="1892807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B45000"/>
                </a:solidFill>
              </a:rPr>
              <a:t>XSS防护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79" y="1865376"/>
            <a:ext cx="1417320" cy="274320"/>
          </a:xfrm>
          <a:prstGeom prst="rect">
            <a:avLst/>
          </a:prstGeom>
          <a:solidFill>
            <a:srgbClr val="FFF8EB"/>
          </a:solidFill>
          <a:ln w="635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1892807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B45000"/>
                </a:solidFill>
              </a:rPr>
              <a:t>输入校验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2414016"/>
            <a:ext cx="1463040" cy="60350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245059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认证服务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27614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8DCFF"/>
                </a:solidFill>
              </a:rPr>
              <a:t>/auth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12848" y="2414016"/>
            <a:ext cx="1463040" cy="603504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58568" y="245059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人员管理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58568" y="27614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8DCFF"/>
                </a:solidFill>
              </a:rPr>
              <a:t>/personnel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85615" y="2414016"/>
            <a:ext cx="1463040" cy="603504"/>
          </a:xfrm>
          <a:prstGeom prst="rect">
            <a:avLst/>
          </a:prstGeom>
          <a:solidFill>
            <a:srgbClr val="0F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31335" y="245059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IT资产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31335" y="27614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8DCFF"/>
                </a:solidFill>
              </a:rPr>
              <a:t>/assets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58383" y="2414016"/>
            <a:ext cx="1463040" cy="603504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4103" y="245059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安全管控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04103" y="27614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8DCFF"/>
                </a:solidFill>
              </a:rPr>
              <a:t>/security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31151" y="2414016"/>
            <a:ext cx="1463040" cy="60350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76871" y="245059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AI助手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76871" y="27614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8DCFF"/>
                </a:solidFill>
              </a:rPr>
              <a:t>/ai_assistant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03919" y="2414016"/>
            <a:ext cx="1463040" cy="60350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49640" y="245059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系统管理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49640" y="27614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8DCFF"/>
                </a:solidFill>
              </a:rPr>
              <a:t>/admin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76688" y="2414016"/>
            <a:ext cx="1463040" cy="6035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22408" y="245059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日志审计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22408" y="27614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8DCFF"/>
                </a:solidFill>
              </a:rPr>
              <a:t>/audit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" y="3291840"/>
            <a:ext cx="3383280" cy="594360"/>
          </a:xfrm>
          <a:prstGeom prst="rect">
            <a:avLst/>
          </a:prstGeom>
          <a:solidFill>
            <a:srgbClr val="E6F2FF"/>
          </a:solidFill>
          <a:ln w="190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19" y="331012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3C82"/>
                </a:solidFill>
              </a:rPr>
              <a:t>MySQL 8.0</a:t>
            </a:r>
          </a:p>
          <a:p>
            <a:pPr algn="ctr"/>
            <a:r>
              <a:rPr sz="750" b="0">
                <a:solidFill>
                  <a:srgbClr val="5078B4"/>
                </a:solidFill>
              </a:rPr>
              <a:t>11张核心业务表 · 主从复制 · 读写分离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06240" y="3291840"/>
            <a:ext cx="3383280" cy="594360"/>
          </a:xfrm>
          <a:prstGeom prst="rect">
            <a:avLst/>
          </a:prstGeom>
          <a:solidFill>
            <a:srgbClr val="FFF0F8"/>
          </a:solidFill>
          <a:ln w="19050">
            <a:solidFill>
              <a:srgbClr val="B42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97679" y="331012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3C82"/>
                </a:solidFill>
              </a:rPr>
              <a:t>Redis 缓存</a:t>
            </a:r>
          </a:p>
          <a:p>
            <a:pPr algn="ctr"/>
            <a:r>
              <a:rPr sz="750" b="0">
                <a:solidFill>
                  <a:srgbClr val="5078B4"/>
                </a:solidFill>
              </a:rPr>
              <a:t>会话存储 · 权限缓存 · 请求限流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72400" y="3291840"/>
            <a:ext cx="3383280" cy="594360"/>
          </a:xfrm>
          <a:prstGeom prst="rect">
            <a:avLst/>
          </a:prstGeom>
          <a:solidFill>
            <a:srgbClr val="F5EEFF"/>
          </a:solidFill>
          <a:ln w="19050">
            <a:solidFill>
              <a:srgbClr val="823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63840" y="331012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3C82"/>
                </a:solidFill>
              </a:rPr>
              <a:t>Ollama AI</a:t>
            </a:r>
          </a:p>
          <a:p>
            <a:pPr algn="ctr"/>
            <a:r>
              <a:rPr sz="750" b="0">
                <a:solidFill>
                  <a:srgbClr val="5078B4"/>
                </a:solidFill>
              </a:rPr>
              <a:t>意图识别 · SQL生成 · 自然语言回答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835640" y="1005840"/>
            <a:ext cx="1280160" cy="2944368"/>
          </a:xfrm>
          <a:prstGeom prst="rect">
            <a:avLst/>
          </a:prstGeom>
          <a:solidFill>
            <a:srgbClr val="F8F8FA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81360" y="102412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365D"/>
                </a:solidFill>
              </a:rPr>
              <a:t>技术栈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881360" y="1280160"/>
            <a:ext cx="502920" cy="23774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99648" y="130759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FFFFFF"/>
                </a:solidFill>
              </a:rPr>
              <a:t>Web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402568" y="1307592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05050"/>
                </a:solidFill>
              </a:rPr>
              <a:t>Flask 2.x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881360" y="1618488"/>
            <a:ext cx="502920" cy="23774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899648" y="16459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FFFFFF"/>
                </a:solidFill>
              </a:rPr>
              <a:t>ORM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402568" y="1645920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05050"/>
                </a:solidFill>
              </a:rPr>
              <a:t>SQLAlchemy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881360" y="1956816"/>
            <a:ext cx="502920" cy="23774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899648" y="19842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FFFFFF"/>
                </a:solidFill>
              </a:rPr>
              <a:t>DB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402568" y="1984248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05050"/>
                </a:solidFill>
              </a:rPr>
              <a:t>MySQL 8.0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881360" y="2295144"/>
            <a:ext cx="502920" cy="23774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899648" y="232257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FFFFFF"/>
                </a:solidFill>
              </a:rPr>
              <a:t>Cache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402568" y="2322576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05050"/>
                </a:solidFill>
              </a:rPr>
              <a:t>Redis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881360" y="2633472"/>
            <a:ext cx="502920" cy="23774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899648" y="26609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402568" y="2660904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05050"/>
                </a:solidFill>
              </a:rPr>
              <a:t>Ollama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881360" y="2971800"/>
            <a:ext cx="502920" cy="23774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899648" y="299923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402568" y="2999232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05050"/>
                </a:solidFill>
              </a:rPr>
              <a:t>Flask-Login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881360" y="3310128"/>
            <a:ext cx="502920" cy="23774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899648" y="33375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FFFFFF"/>
                </a:solidFill>
              </a:rPr>
              <a:t>API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402568" y="3337560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05050"/>
                </a:solidFill>
              </a:rPr>
              <a:t>RESTful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881360" y="3648456"/>
            <a:ext cx="502920" cy="23774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899648" y="367588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FFFFFF"/>
                </a:solidFill>
              </a:rPr>
              <a:t>Sec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402568" y="3675888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05050"/>
                </a:solidFill>
              </a:rPr>
              <a:t>CSRF+JWT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411480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7200" y="41605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4C8E6"/>
                </a:solidFill>
              </a:rPr>
              <a:t>系统规模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4434840"/>
            <a:ext cx="1078992" cy="566928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5488" y="4480559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93,000+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5488" y="4782312"/>
            <a:ext cx="1042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6B4DC"/>
                </a:solidFill>
              </a:rPr>
              <a:t>员工档案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81912" y="4434840"/>
            <a:ext cx="1078992" cy="566928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00200" y="4480559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1,000+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600200" y="4782312"/>
            <a:ext cx="1042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6B4DC"/>
                </a:solidFill>
              </a:rPr>
              <a:t>办公电脑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06624" y="4434840"/>
            <a:ext cx="1078992" cy="566928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724912" y="4480559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500+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24912" y="4782312"/>
            <a:ext cx="1042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6B4DC"/>
                </a:solidFill>
              </a:rPr>
              <a:t>工控机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831335" y="4434840"/>
            <a:ext cx="1078992" cy="566928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849623" y="4480559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200+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849623" y="4782312"/>
            <a:ext cx="1042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6B4DC"/>
                </a:solidFill>
              </a:rPr>
              <a:t>部门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956048" y="4434840"/>
            <a:ext cx="1078992" cy="566928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974336" y="4480559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7级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974336" y="4782312"/>
            <a:ext cx="1042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6B4DC"/>
                </a:solidFill>
              </a:rPr>
              <a:t>角色权限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80760" y="4434840"/>
            <a:ext cx="1078992" cy="566928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099048" y="4480559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CSRF+XSS+SQL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099048" y="4782312"/>
            <a:ext cx="1042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6B4DC"/>
                </a:solidFill>
              </a:rPr>
              <a:t>全防护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205472" y="4434840"/>
            <a:ext cx="1078992" cy="566928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223760" y="4480559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223760" y="4782312"/>
            <a:ext cx="1042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6B4DC"/>
                </a:solidFill>
              </a:rPr>
              <a:t>智能问答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330184" y="4434840"/>
            <a:ext cx="1078992" cy="566928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348472" y="4480559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50+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348472" y="4782312"/>
            <a:ext cx="1042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6B4DC"/>
                </a:solidFill>
              </a:rPr>
              <a:t>API接口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454896" y="4434840"/>
            <a:ext cx="1078992" cy="566928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473184" y="4480559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B/S+C/S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473184" y="4782312"/>
            <a:ext cx="1042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6B4DC"/>
                </a:solidFill>
              </a:rPr>
              <a:t>混合架构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579608" y="4434840"/>
            <a:ext cx="1078992" cy="566928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597896" y="4480559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秒级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597896" y="4782312"/>
            <a:ext cx="1042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6B4DC"/>
                </a:solidFill>
              </a:rPr>
              <a:t>查询响应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57200" y="518464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296B4"/>
                </a:solidFill>
              </a:rPr>
              <a:t>v1.3  ·  2026-05-08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8952"/>
            <a:ext cx="12191695" cy="64008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EE6"/>
                </a:solidFill>
              </a:rPr>
              <a:t>ENTERPRISE ASSET &amp; SECURITY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260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核心价值与上线计划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20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CAAD2"/>
                </a:solidFill>
              </a:rPr>
              <a:t>领导汇报专用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303520" cy="29260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2412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核心业务价值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91440" cy="411480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1371600"/>
            <a:ext cx="512064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38988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65D"/>
                </a:solidFill>
              </a:rPr>
              <a:t>数据集中化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57276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05050"/>
                </a:solidFill>
              </a:rPr>
              <a:t>9.3万员工信息统一管理，消除信息孤岛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847088"/>
            <a:ext cx="91440" cy="411480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" y="1847088"/>
            <a:ext cx="512064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8653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65D"/>
                </a:solidFill>
              </a:rPr>
              <a:t>查询自助化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04825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05050"/>
                </a:solidFill>
              </a:rPr>
              <a:t>自然语言查数据，响应周期从天缩短到秒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322576"/>
            <a:ext cx="91440" cy="411480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" y="2322576"/>
            <a:ext cx="512064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3408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65D"/>
                </a:solidFill>
              </a:rPr>
              <a:t>权限精细化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52374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05050"/>
                </a:solidFill>
              </a:rPr>
              <a:t>最小粒度到人-系统-操作，部门数据隔离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798064"/>
            <a:ext cx="91440" cy="411480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064" y="2798064"/>
            <a:ext cx="512064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8163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65D"/>
                </a:solidFill>
              </a:rPr>
              <a:t>资产可视化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299923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05050"/>
                </a:solidFill>
              </a:rPr>
              <a:t>人机关联，归属清晰，丢失可快速定位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273552"/>
            <a:ext cx="91440" cy="411480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2064" y="3273552"/>
            <a:ext cx="512064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2918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65D"/>
                </a:solidFill>
              </a:rPr>
              <a:t>安全合规化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47472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05050"/>
                </a:solidFill>
              </a:rPr>
              <a:t>操作留痕，权限到人，满足保密资质要求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749039"/>
            <a:ext cx="91440" cy="411480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2064" y="3749039"/>
            <a:ext cx="512064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767327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65D"/>
                </a:solidFill>
              </a:rPr>
              <a:t>AI智能化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3950207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05050"/>
                </a:solidFill>
              </a:rPr>
              <a:t>非技术人员也能自主查询，解放IT生产力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1005840"/>
            <a:ext cx="5760720" cy="29260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102412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上线评估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371600"/>
            <a:ext cx="566928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1371600"/>
            <a:ext cx="5029200" cy="411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14081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65D"/>
                </a:solidFill>
              </a:rPr>
              <a:t>功能开发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140817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34D399"/>
                </a:solidFill>
              </a:rPr>
              <a:t>100%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1828800"/>
            <a:ext cx="566928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1828800"/>
            <a:ext cx="4526280" cy="4114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18653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65D"/>
                </a:solidFill>
              </a:rPr>
              <a:t>代码审计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186537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C107"/>
                </a:solidFill>
              </a:rPr>
              <a:t>90%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2286000"/>
            <a:ext cx="566928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2286000"/>
            <a:ext cx="4023360" cy="4114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23225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65D"/>
                </a:solidFill>
              </a:rPr>
              <a:t>Bug修复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232257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C107"/>
                </a:solidFill>
              </a:rPr>
              <a:t>80%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2743200"/>
            <a:ext cx="566928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35040" y="2743200"/>
            <a:ext cx="3017520" cy="41148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80" y="27797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65D"/>
                </a:solidFill>
              </a:rPr>
              <a:t>性能测试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81360" y="277977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70D2"/>
                </a:solidFill>
              </a:rPr>
              <a:t>60%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3200400"/>
            <a:ext cx="566928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035040" y="3200400"/>
            <a:ext cx="2514600" cy="41148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26480" y="32369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65D"/>
                </a:solidFill>
              </a:rPr>
              <a:t>文档完善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81360" y="323697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70D2"/>
                </a:solidFill>
              </a:rPr>
              <a:t>50%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35040" y="3931920"/>
            <a:ext cx="5760720" cy="29260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26480" y="39502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里程碑节点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35040" y="4297680"/>
            <a:ext cx="5669280" cy="4572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035040" y="4297680"/>
            <a:ext cx="109728" cy="457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99632" y="433425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</a:rPr>
              <a:t>5/14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99632" y="453542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365D"/>
                </a:solidFill>
              </a:rPr>
              <a:t>安全收尾完成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03920" y="433425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05050"/>
                </a:solidFill>
              </a:rPr>
              <a:t>P0全部修复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35040" y="4828032"/>
            <a:ext cx="5669280" cy="4572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35040" y="4828032"/>
            <a:ext cx="109728" cy="45720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99632" y="486460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D2"/>
                </a:solidFill>
              </a:rPr>
              <a:t>5/21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99632" y="506577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365D"/>
                </a:solidFill>
              </a:rPr>
              <a:t>全面测试完成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03920" y="486460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05050"/>
                </a:solidFill>
              </a:rPr>
              <a:t>功能+性能+安全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35040" y="5358384"/>
            <a:ext cx="5669280" cy="4572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035040" y="5358384"/>
            <a:ext cx="109728" cy="45720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99632" y="539496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D2"/>
                </a:solidFill>
              </a:rPr>
              <a:t>5/28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99632" y="55961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365D"/>
                </a:solidFill>
              </a:rPr>
              <a:t>优化文档完成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03920" y="539496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05050"/>
                </a:solidFill>
              </a:rPr>
              <a:t>性能+文档收尾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35040" y="5888736"/>
            <a:ext cx="5669280" cy="4572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035040" y="5888736"/>
            <a:ext cx="109728" cy="457200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99632" y="592531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700"/>
                </a:solidFill>
              </a:rPr>
              <a:t>6/7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99632" y="612648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365D"/>
                </a:solidFill>
              </a:rPr>
              <a:t>正式上线运行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03920" y="59253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05050"/>
                </a:solidFill>
              </a:rPr>
              <a:t>系统投入使用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6400800"/>
            <a:ext cx="11430000" cy="18288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5760" y="56235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65D"/>
                </a:solidFill>
              </a:rPr>
              <a:t>系统核心功能已全部完成，安全漏洞已修复，权限体系已到位。预计2026年6月7日前完成全部测试，正式上线投入使用。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" y="614476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696B4"/>
                </a:solidFill>
              </a:rPr>
              <a:t>Enterprise Asset &amp; Security Management v1.3  ·  2026-05-08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