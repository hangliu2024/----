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09728" cy="36576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B4C8E6"/>
                </a:solidFill>
              </a:rPr>
              <a:t>ENTERPRISE ASSET &amp; SECURITY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38404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企业资产与信息安全综合管理平台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583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CAAD2"/>
                </a:solidFill>
              </a:rPr>
              <a:t>系统架构设计图  |  B/S 三层架构  |  技术栈: Flask + MySQL + Ollama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56692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CAAD2"/>
                </a:solidFill>
              </a:rPr>
              <a:t>v1.3  ·  2026-05-08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87552"/>
            <a:ext cx="11430000" cy="658368"/>
          </a:xfrm>
          <a:prstGeom prst="rect">
            <a:avLst/>
          </a:prstGeom>
          <a:solidFill>
            <a:srgbClr val="D9E2F3"/>
          </a:solidFill>
          <a:ln w="63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70D2"/>
                </a:solidFill>
              </a:rPr>
              <a:t>PRESENTATION LAYER  ·  表现层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024128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6482B4"/>
                </a:solidFill>
              </a:rPr>
              <a:t>浏览器 / 移动端 / API 调用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19072"/>
            <a:ext cx="11430000" cy="475488"/>
          </a:xfrm>
          <a:prstGeom prst="rect">
            <a:avLst/>
          </a:prstGeom>
          <a:solidFill>
            <a:srgbClr val="FFF8EB"/>
          </a:solidFill>
          <a:ln w="635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6700"/>
                </a:solidFill>
              </a:rPr>
              <a:t>SECURITY GATEWAY  ·  安全网关层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67712"/>
            <a:ext cx="11430000" cy="777240"/>
          </a:xfrm>
          <a:prstGeom prst="rect">
            <a:avLst/>
          </a:prstGeom>
          <a:solidFill>
            <a:srgbClr val="F2F7FC"/>
          </a:solidFill>
          <a:ln w="63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50A0"/>
                </a:solidFill>
              </a:rPr>
              <a:t>APPLICATION LAYER  ·  应用服务层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27248"/>
            <a:ext cx="11430000" cy="777240"/>
          </a:xfrm>
          <a:prstGeom prst="rect">
            <a:avLst/>
          </a:prstGeom>
          <a:solidFill>
            <a:srgbClr val="F0FAF0"/>
          </a:solidFill>
          <a:ln w="6350">
            <a:solidFill>
              <a:srgbClr val="00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45536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8C50"/>
                </a:solidFill>
              </a:rPr>
              <a:t>DATA LAYER  ·  数据服务层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097280"/>
            <a:ext cx="1280160" cy="475488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👑
系统管理员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1097280"/>
            <a:ext cx="1280160" cy="475488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🏢
部门主管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1097280"/>
            <a:ext cx="1280160" cy="475488"/>
          </a:xfrm>
          <a:prstGeom prst="rect">
            <a:avLst/>
          </a:prstGeom>
          <a:solidFill>
            <a:srgbClr val="50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👤
普通员工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097280"/>
            <a:ext cx="1280160" cy="47548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🔌
API调用方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46420" y="1627632"/>
            <a:ext cx="45720" cy="109728"/>
          </a:xfrm>
          <a:prstGeom prst="rect">
            <a:avLst/>
          </a:prstGeom>
          <a:solidFill>
            <a:srgbClr val="96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1828800"/>
            <a:ext cx="1280160" cy="292608"/>
          </a:xfrm>
          <a:prstGeom prst="rect">
            <a:avLst/>
          </a:prstGeom>
          <a:solidFill>
            <a:srgbClr val="FFF8EB"/>
          </a:solidFill>
          <a:ln w="9525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B45000"/>
                </a:solidFill>
              </a:rPr>
              <a:t>🛡️ CSRF Token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1828800"/>
            <a:ext cx="1280160" cy="292608"/>
          </a:xfrm>
          <a:prstGeom prst="rect">
            <a:avLst/>
          </a:prstGeom>
          <a:solidFill>
            <a:srgbClr val="FFF8EB"/>
          </a:solidFill>
          <a:ln w="9525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B45000"/>
                </a:solidFill>
              </a:rPr>
              <a:t>🔑 API Key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1828800"/>
            <a:ext cx="1280160" cy="292608"/>
          </a:xfrm>
          <a:prstGeom prst="rect">
            <a:avLst/>
          </a:prstGeom>
          <a:solidFill>
            <a:srgbClr val="FFF8EB"/>
          </a:solidFill>
          <a:ln w="9525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B45000"/>
                </a:solidFill>
              </a:rPr>
              <a:t>👤 JWT Session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1828800"/>
            <a:ext cx="1280160" cy="292608"/>
          </a:xfrm>
          <a:prstGeom prst="rect">
            <a:avLst/>
          </a:prstGeom>
          <a:solidFill>
            <a:srgbClr val="FFF8EB"/>
          </a:solidFill>
          <a:ln w="9525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B45000"/>
                </a:solidFill>
              </a:rPr>
              <a:t>⚡ Rate Limit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139696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 i="0">
                <a:solidFill>
                  <a:srgbClr val="B46400"/>
                </a:solidFill>
              </a:rPr>
              <a:t>+ 更多安全策略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46420" y="2212848"/>
            <a:ext cx="45720" cy="91440"/>
          </a:xfrm>
          <a:prstGeom prst="rect">
            <a:avLst/>
          </a:prstGeom>
          <a:solidFill>
            <a:srgbClr val="96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2395728"/>
            <a:ext cx="1417320" cy="56692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🔐
认证服务</a:t>
            </a:r>
          </a:p>
          <a:p>
            <a:pPr algn="ctr"/>
            <a:r>
              <a:rPr sz="700">
                <a:solidFill>
                  <a:srgbClr val="C8DCFF"/>
                </a:solidFill>
              </a:rPr>
              <a:t>/auth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395728"/>
            <a:ext cx="1417320" cy="566928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👥
人员管理</a:t>
            </a:r>
          </a:p>
          <a:p>
            <a:pPr algn="ctr"/>
            <a:r>
              <a:rPr sz="700">
                <a:solidFill>
                  <a:srgbClr val="C8DCFF"/>
                </a:solidFill>
              </a:rPr>
              <a:t>/personnel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2395728"/>
            <a:ext cx="1417320" cy="566928"/>
          </a:xfrm>
          <a:prstGeom prst="rect">
            <a:avLst/>
          </a:prstGeom>
          <a:solidFill>
            <a:srgbClr val="0F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💻
IT资产</a:t>
            </a:r>
          </a:p>
          <a:p>
            <a:pPr algn="ctr"/>
            <a:r>
              <a:rPr sz="700">
                <a:solidFill>
                  <a:srgbClr val="C8DCFF"/>
                </a:solidFill>
              </a:rPr>
              <a:t>/assets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2395728"/>
            <a:ext cx="1417320" cy="566928"/>
          </a:xfrm>
          <a:prstGeom prst="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🛡️
安全管控</a:t>
            </a:r>
          </a:p>
          <a:p>
            <a:pPr algn="ctr"/>
            <a:r>
              <a:rPr sz="700">
                <a:solidFill>
                  <a:srgbClr val="C8DCFF"/>
                </a:solidFill>
              </a:rPr>
              <a:t>/security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2395728"/>
            <a:ext cx="1417320" cy="56692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🤖
AI助手</a:t>
            </a:r>
          </a:p>
          <a:p>
            <a:pPr algn="ctr"/>
            <a:r>
              <a:rPr sz="700">
                <a:solidFill>
                  <a:srgbClr val="C8DCFF"/>
                </a:solidFill>
              </a:rPr>
              <a:t>/ai_assistant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2395728"/>
            <a:ext cx="1417320" cy="566928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⚙️
系统管理</a:t>
            </a:r>
          </a:p>
          <a:p>
            <a:pPr algn="ctr"/>
            <a:r>
              <a:rPr sz="700">
                <a:solidFill>
                  <a:srgbClr val="C8DCFF"/>
                </a:solidFill>
              </a:rPr>
              <a:t>/admin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59" y="2395728"/>
            <a:ext cx="141732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📋
日志审计</a:t>
            </a:r>
          </a:p>
          <a:p>
            <a:pPr algn="ctr"/>
            <a:r>
              <a:rPr sz="700">
                <a:solidFill>
                  <a:srgbClr val="C8DCFF"/>
                </a:solidFill>
              </a:rPr>
              <a:t>/audit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46420" y="3017520"/>
            <a:ext cx="45720" cy="109728"/>
          </a:xfrm>
          <a:prstGeom prst="rect">
            <a:avLst/>
          </a:prstGeom>
          <a:solidFill>
            <a:srgbClr val="96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3273552"/>
            <a:ext cx="3291840" cy="566928"/>
          </a:xfrm>
          <a:prstGeom prst="rect">
            <a:avLst/>
          </a:prstGeom>
          <a:solidFill>
            <a:srgbClr val="E6F2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3C82"/>
                </a:solidFill>
              </a:rPr>
              <a:t>🗄  MySQL 8.0  数据库引擎</a:t>
            </a:r>
          </a:p>
          <a:p>
            <a:pPr algn="ctr"/>
            <a:r>
              <a:rPr sz="750">
                <a:solidFill>
                  <a:srgbClr val="5078B4"/>
                </a:solidFill>
              </a:rPr>
              <a:t>11张核心业务表 · 主从复制 · 读写分离</a:t>
            </a:r>
          </a:p>
          <a:p>
            <a:pPr algn="ctr"/>
            <a:r>
              <a:rPr sz="700">
                <a:solidFill>
                  <a:srgbClr val="7896C8"/>
                </a:solidFill>
              </a:rPr>
              <a:t>员工档案 · 资产台账 · 权限矩阵 · 操作日志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3273552"/>
            <a:ext cx="2743200" cy="566928"/>
          </a:xfrm>
          <a:prstGeom prst="rect">
            <a:avLst/>
          </a:prstGeom>
          <a:solidFill>
            <a:srgbClr val="FFF0F8"/>
          </a:solidFill>
          <a:ln w="19050">
            <a:solidFill>
              <a:srgbClr val="B42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01E50"/>
                </a:solidFill>
              </a:rPr>
              <a:t>⚡  Redis 分布式缓存</a:t>
            </a:r>
          </a:p>
          <a:p>
            <a:pPr algn="ctr"/>
            <a:r>
              <a:rPr sz="750">
                <a:solidFill>
                  <a:srgbClr val="B45082"/>
                </a:solidFill>
              </a:rPr>
              <a:t>会话存储 · 权限缓存 · 请求限流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3273552"/>
            <a:ext cx="3474720" cy="566928"/>
          </a:xfrm>
          <a:prstGeom prst="rect">
            <a:avLst/>
          </a:prstGeom>
          <a:solidFill>
            <a:srgbClr val="F5EEFF"/>
          </a:solidFill>
          <a:ln w="19050">
            <a:solidFill>
              <a:srgbClr val="823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1EA0"/>
                </a:solidFill>
              </a:rPr>
              <a:t>🤖  Ollama AI 引擎 (Qwen3.5:9B)</a:t>
            </a:r>
          </a:p>
          <a:p>
            <a:pPr algn="ctr"/>
            <a:r>
              <a:rPr sz="750">
                <a:solidFill>
                  <a:srgbClr val="8C50C8"/>
                </a:solidFill>
              </a:rPr>
              <a:t>意图识别 · SQL生成 · 自然语言回答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81360" y="987552"/>
            <a:ext cx="1280160" cy="2926080"/>
          </a:xfrm>
          <a:prstGeom prst="rect">
            <a:avLst/>
          </a:prstGeom>
          <a:solidFill>
            <a:srgbClr val="F8F8F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27080" y="1024128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1A365D"/>
                </a:solidFill>
              </a:rPr>
              <a:t>技术栈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927080" y="1280160"/>
            <a:ext cx="502920" cy="23774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57432" y="130759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95959"/>
                </a:solidFill>
              </a:rPr>
              <a:t>Flask 2.x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27080" y="1618488"/>
            <a:ext cx="502920" cy="237744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57432" y="1645920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95959"/>
                </a:solidFill>
              </a:rPr>
              <a:t>SQLAlchemy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27080" y="1956816"/>
            <a:ext cx="502920" cy="237744"/>
          </a:xfrm>
          <a:prstGeom prst="rect">
            <a:avLst/>
          </a:prstGeom>
          <a:solidFill>
            <a:srgbClr val="00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57432" y="1984248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95959"/>
                </a:solidFill>
              </a:rPr>
              <a:t>MySQL 8.0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27080" y="2295144"/>
            <a:ext cx="502920" cy="237744"/>
          </a:xfrm>
          <a:prstGeom prst="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Cache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57432" y="2322576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95959"/>
                </a:solidFill>
              </a:rPr>
              <a:t>Redis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927080" y="2633472"/>
            <a:ext cx="502920" cy="2377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57432" y="2660904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95959"/>
                </a:solidFill>
              </a:rPr>
              <a:t>Ollama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27080" y="2971800"/>
            <a:ext cx="502920" cy="2377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57432" y="299923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95959"/>
                </a:solidFill>
              </a:rPr>
              <a:t>Flask-Login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27080" y="3310128"/>
            <a:ext cx="502920" cy="2377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57432" y="3337560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95959"/>
                </a:solidFill>
              </a:rPr>
              <a:t>RESTful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27080" y="3648456"/>
            <a:ext cx="502920" cy="237744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Sec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57432" y="3675888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595959"/>
                </a:solidFill>
              </a:rPr>
              <a:t>CSRF+JWT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4069080"/>
            <a:ext cx="12191695" cy="1097280"/>
          </a:xfrm>
          <a:prstGeom prst="rect">
            <a:avLst/>
          </a:prstGeom>
          <a:solidFill>
            <a:srgbClr val="1E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1148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B4C8E6"/>
                </a:solidFill>
              </a:rPr>
              <a:t>系统规模与能力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434840"/>
            <a:ext cx="1051560" cy="54864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👥 93,000+</a:t>
            </a:r>
          </a:p>
          <a:p>
            <a:pPr algn="ctr"/>
            <a:r>
              <a:rPr sz="700">
                <a:solidFill>
                  <a:srgbClr val="96B4DC"/>
                </a:solidFill>
              </a:rPr>
              <a:t>员工档案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54480" y="4434840"/>
            <a:ext cx="1051560" cy="54864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💻 1,000+</a:t>
            </a:r>
          </a:p>
          <a:p>
            <a:pPr algn="ctr"/>
            <a:r>
              <a:rPr sz="700">
                <a:solidFill>
                  <a:srgbClr val="96B4DC"/>
                </a:solidFill>
              </a:rPr>
              <a:t>办公电脑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51760" y="4434840"/>
            <a:ext cx="1051560" cy="54864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🔧 500+</a:t>
            </a:r>
          </a:p>
          <a:p>
            <a:pPr algn="ctr"/>
            <a:r>
              <a:rPr sz="700">
                <a:solidFill>
                  <a:srgbClr val="96B4DC"/>
                </a:solidFill>
              </a:rPr>
              <a:t>工控机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49039" y="4434840"/>
            <a:ext cx="1051560" cy="54864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🏢 200+</a:t>
            </a:r>
          </a:p>
          <a:p>
            <a:pPr algn="ctr"/>
            <a:r>
              <a:rPr sz="700">
                <a:solidFill>
                  <a:srgbClr val="96B4DC"/>
                </a:solidFill>
              </a:rPr>
              <a:t>部门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46320" y="4434840"/>
            <a:ext cx="1051560" cy="54864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🔐 7级</a:t>
            </a:r>
          </a:p>
          <a:p>
            <a:pPr algn="ctr"/>
            <a:r>
              <a:rPr sz="700">
                <a:solidFill>
                  <a:srgbClr val="96B4DC"/>
                </a:solidFill>
              </a:rPr>
              <a:t>角色权限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0" y="4434840"/>
            <a:ext cx="1051560" cy="54864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🛡️ CSRF+XSS+SQL</a:t>
            </a:r>
          </a:p>
          <a:p>
            <a:pPr algn="ctr"/>
            <a:r>
              <a:rPr sz="700">
                <a:solidFill>
                  <a:srgbClr val="96B4DC"/>
                </a:solidFill>
              </a:rPr>
              <a:t>全防护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40880" y="4434840"/>
            <a:ext cx="1051560" cy="54864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🤖 AI</a:t>
            </a:r>
          </a:p>
          <a:p>
            <a:pPr algn="ctr"/>
            <a:r>
              <a:rPr sz="700">
                <a:solidFill>
                  <a:srgbClr val="96B4DC"/>
                </a:solidFill>
              </a:rPr>
              <a:t>智能问答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4434840"/>
            <a:ext cx="1051560" cy="54864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📊 50+</a:t>
            </a:r>
          </a:p>
          <a:p>
            <a:pPr algn="ctr"/>
            <a:r>
              <a:rPr sz="700">
                <a:solidFill>
                  <a:srgbClr val="96B4DC"/>
                </a:solidFill>
              </a:rPr>
              <a:t>API接口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35440" y="4434840"/>
            <a:ext cx="1051560" cy="54864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📱 B/S+C/S</a:t>
            </a:r>
          </a:p>
          <a:p>
            <a:pPr algn="ctr"/>
            <a:r>
              <a:rPr sz="700">
                <a:solidFill>
                  <a:srgbClr val="96B4DC"/>
                </a:solidFill>
              </a:rPr>
              <a:t>混合架构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332719" y="4434840"/>
            <a:ext cx="1051560" cy="548640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⚡ 秒级</a:t>
            </a:r>
          </a:p>
          <a:p>
            <a:pPr algn="ctr"/>
            <a:r>
              <a:rPr sz="700">
                <a:solidFill>
                  <a:srgbClr val="96B4DC"/>
                </a:solidFill>
              </a:rPr>
              <a:t>查询响应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0" y="4892040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296B4"/>
                </a:solidFill>
              </a:rPr>
              <a:t>数据截至：2026-05-08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4892040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296B4"/>
                </a:solidFill>
              </a:rPr>
              <a:t>Enterprise Asset &amp; Security Management Platform v1.3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0" y="1627632"/>
            <a:ext cx="13716" cy="585216"/>
          </a:xfrm>
          <a:prstGeom prst="rect">
            <a:avLst/>
          </a:prstGeom>
          <a:solidFill>
            <a:srgbClr val="B4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97680" y="1627632"/>
            <a:ext cx="13716" cy="585216"/>
          </a:xfrm>
          <a:prstGeom prst="rect">
            <a:avLst/>
          </a:prstGeom>
          <a:solidFill>
            <a:srgbClr val="B4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852160" y="1627632"/>
            <a:ext cx="13716" cy="585216"/>
          </a:xfrm>
          <a:prstGeom prst="rect">
            <a:avLst/>
          </a:prstGeom>
          <a:solidFill>
            <a:srgbClr val="B4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06640" y="1627632"/>
            <a:ext cx="13716" cy="585216"/>
          </a:xfrm>
          <a:prstGeom prst="rect">
            <a:avLst/>
          </a:prstGeom>
          <a:solidFill>
            <a:srgbClr val="B4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961120" y="1627632"/>
            <a:ext cx="13716" cy="585216"/>
          </a:xfrm>
          <a:prstGeom prst="rect">
            <a:avLst/>
          </a:prstGeom>
          <a:solidFill>
            <a:srgbClr val="B4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65760" y="1664208"/>
            <a:ext cx="11430000" cy="9144"/>
          </a:xfrm>
          <a:prstGeom prst="rect">
            <a:avLst/>
          </a:prstGeom>
          <a:solidFill>
            <a:srgbClr val="C8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65760" y="2212848"/>
            <a:ext cx="11430000" cy="9144"/>
          </a:xfrm>
          <a:prstGeom prst="rect">
            <a:avLst/>
          </a:prstGeom>
          <a:solidFill>
            <a:srgbClr val="C8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65760" y="3072384"/>
            <a:ext cx="11430000" cy="9144"/>
          </a:xfrm>
          <a:prstGeom prst="rect">
            <a:avLst/>
          </a:prstGeom>
          <a:solidFill>
            <a:srgbClr val="C8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